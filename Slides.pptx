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65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9082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702A"/>
          </a:solidFill>
          <a:ln w="12700">
            <a:solidFill>
              <a:srgbClr val="D470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8FA3B1"/>
                </a:solidFill>
              </a:rPr>
              <a:t>Boolean Data Analytics  —  Progetto Finale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Incidenti Stradali in Italia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702A"/>
                </a:solidFill>
              </a:rPr>
              <a:t>Analisi territoriale 2015–2024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5029200" cy="0"/>
          </a:xfrm>
          <a:prstGeom prst="line">
            <a:avLst/>
          </a:prstGeom>
          <a:noFill/>
          <a:ln w="19050">
            <a:solidFill>
              <a:srgbClr val="2E7D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</a:rPr>
              <a:t>Dati ufficiali ISTAT via API  •  7.896 comuni  •  10 anni  •  Analisi statistica e forecasting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3200400"/>
            <a:ext cx="896112" cy="1097280"/>
          </a:xfrm>
          <a:prstGeom prst="rect">
            <a:avLst/>
          </a:prstGeom>
          <a:solidFill>
            <a:srgbClr val="2E7D9A">
              <a:alpha val="45000"/>
            </a:srgbClr>
          </a:solidFill>
          <a:ln w="6350">
            <a:solidFill>
              <a:srgbClr val="2E7D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126480" y="3291840"/>
            <a:ext cx="896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76.914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3794760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E0"/>
                </a:solidFill>
              </a:rPr>
              <a:t>osservazioni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14032" y="3200400"/>
            <a:ext cx="896112" cy="1097280"/>
          </a:xfrm>
          <a:prstGeom prst="rect">
            <a:avLst/>
          </a:prstGeom>
          <a:solidFill>
            <a:srgbClr val="2E7D9A">
              <a:alpha val="45000"/>
            </a:srgbClr>
          </a:solidFill>
          <a:ln w="6350">
            <a:solidFill>
              <a:srgbClr val="2E7D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114032" y="3291840"/>
            <a:ext cx="896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7.896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14032" y="3794760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E0"/>
                </a:solidFill>
              </a:rPr>
              <a:t>comuni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01584" y="3200400"/>
            <a:ext cx="896112" cy="1097280"/>
          </a:xfrm>
          <a:prstGeom prst="rect">
            <a:avLst/>
          </a:prstGeom>
          <a:solidFill>
            <a:srgbClr val="2E7D9A">
              <a:alpha val="45000"/>
            </a:srgbClr>
          </a:solidFill>
          <a:ln w="6350">
            <a:solidFill>
              <a:srgbClr val="2E7D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101584" y="3291840"/>
            <a:ext cx="896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2015–24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01584" y="3794760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D8E0"/>
                </a:solidFill>
              </a:rPr>
              <a:t>periodo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73659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3B1"/>
                </a:solidFill>
              </a:rPr>
              <a:t>Fonti: ISTAT SDMX API (dataset 41_983)  +  SITUAS — Comuni italiani 2020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IL PROBLEMA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FA3B1"/>
                </a:solidFill>
              </a:rPr>
              <a:t>01 /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4A"/>
                </a:solidFill>
              </a:rPr>
              <a:t>Obiettivo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2E3B"/>
                </a:solidFill>
              </a:rPr>
              <a:t>Identificare i comuni italiani con il più alto tasso di incidentalità stradale, confrontare le aree geografiche e prevedere il trend futuro.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3931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38100" dist="12700" dir="2700000" algn="bl" rotWithShape="0">
              <a:srgbClr val="CBD5E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21579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76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</a:rPr>
              <a:t>~170.000 incidenti/anno in Italia (pre-COVID)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3931920" cy="530352"/>
          </a:xfrm>
          <a:prstGeom prst="rect">
            <a:avLst/>
          </a:prstGeom>
          <a:solidFill>
            <a:srgbClr val="EAF4F8"/>
          </a:solidFill>
          <a:ln w="6350">
            <a:solidFill>
              <a:srgbClr val="CBD5E0"/>
            </a:solidFill>
            <a:prstDash val="solid"/>
          </a:ln>
          <a:effectLst>
            <a:outerShdw blurRad="38100" dist="12700" dir="2700000" algn="bl" rotWithShape="0">
              <a:srgbClr val="CBD5E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48640" y="279806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163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</a:rPr>
              <a:t>Grandi differenze tra comuni e aree geografiche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3931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38100" dist="12700" dir="2700000" algn="bl" rotWithShape="0">
              <a:srgbClr val="CBD5E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48640" y="343814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4564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</a:rPr>
              <a:t>Impatto COVID 2020: -31% in un solo anno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3931920" cy="530352"/>
          </a:xfrm>
          <a:prstGeom prst="rect">
            <a:avLst/>
          </a:prstGeom>
          <a:solidFill>
            <a:srgbClr val="EAF4F8"/>
          </a:solidFill>
          <a:ln w="6350">
            <a:solidFill>
              <a:srgbClr val="CBD5E0"/>
            </a:solidFill>
            <a:prstDash val="solid"/>
          </a:ln>
          <a:effectLst>
            <a:outerShdw blurRad="38100" dist="12700" dir="2700000" algn="bl" rotWithShape="0">
              <a:srgbClr val="CBD5E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48640" y="407822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0965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A2E3B"/>
                </a:solidFill>
              </a:rPr>
              <a:t>Analisi</a:t>
            </a:r>
            <a:r>
              <a:rPr lang="en-US" sz="1150" dirty="0">
                <a:solidFill>
                  <a:srgbClr val="1A2E3B"/>
                </a:solidFill>
              </a:rPr>
              <a:t> pro </a:t>
            </a:r>
            <a:r>
              <a:rPr lang="en-US" sz="1150" dirty="0" err="1">
                <a:solidFill>
                  <a:srgbClr val="1A2E3B"/>
                </a:solidFill>
              </a:rPr>
              <a:t>capite</a:t>
            </a:r>
            <a:r>
              <a:rPr lang="en-US" sz="1150" dirty="0">
                <a:solidFill>
                  <a:srgbClr val="1A2E3B"/>
                </a:solidFill>
              </a:rPr>
              <a:t> necessaria per confronti equi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63440" y="77724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4A"/>
                </a:solidFill>
              </a:rPr>
              <a:t>Le fonti dati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143000"/>
            <a:ext cx="4114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38100" dist="12700" dir="2700000" algn="bl" rotWithShape="0">
              <a:srgbClr val="CBD5E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800600" y="12344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9A"/>
                </a:solidFill>
              </a:rPr>
              <a:t>ISTAT SDMX API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15727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C8D"/>
                </a:solidFill>
              </a:rPr>
              <a:t>Endpoint: esploradati.istat.it/SDMXWS/rest/data/41_983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C8D"/>
                </a:solidFill>
              </a:rPr>
              <a:t>Variabili: incidenti (ROADACC) e vittime (KILLINJ)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C8D"/>
                </a:solidFill>
              </a:rPr>
              <a:t>Fetch automatico via Python requests + pandas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651760"/>
            <a:ext cx="41148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38100" dist="12700" dir="2700000" algn="bl" rotWithShape="0">
              <a:srgbClr val="CBD5E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800600" y="274320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9A"/>
                </a:solidFill>
              </a:rPr>
              <a:t>SITUAS — Comuni italiani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309067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C8D"/>
                </a:solidFill>
              </a:rPr>
              <a:t>7.896 comuni con nome, provincia e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C8D"/>
                </a:solidFill>
              </a:rPr>
              <a:t>popolazione residente (dato 2020)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C8D"/>
                </a:solidFill>
              </a:rPr>
              <a:t>Unione tramite codice ISTAT comune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1"/>
                </a:solidFill>
              </a:rPr>
              <a:t>Il merge tra i due dataset permette di associare ogni incidente al nome del comune e alla sua popolazione → calcolo incidenti per 100.000 abitanti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PROCESSO E STRUMENTI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FA3B1"/>
                </a:solidFill>
              </a:rPr>
              <a:t>02 / 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600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38100" dist="12700" dir="2700000" algn="bl" rotWithShape="0">
              <a:srgbClr val="CBD5E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50392" y="886968"/>
            <a:ext cx="530352" cy="530352"/>
          </a:xfrm>
          <a:prstGeom prst="ellipse">
            <a:avLst/>
          </a:prstGeom>
          <a:solidFill>
            <a:srgbClr val="2E7D9A"/>
          </a:solidFill>
          <a:ln w="12700">
            <a:solidFill>
              <a:srgbClr val="2E7D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50392" y="905256"/>
            <a:ext cx="5303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A4A"/>
                </a:solidFill>
              </a:rPr>
              <a:t>Fetch dati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1480" y="1984248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C8D"/>
                </a:solidFill>
              </a:rPr>
              <a:t>API ISTAT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C8D"/>
                </a:solidFill>
              </a:rPr>
              <a:t>+ SITUAS CSV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" y="3355848"/>
            <a:ext cx="1271016" cy="594360"/>
          </a:xfrm>
          <a:prstGeom prst="rect">
            <a:avLst/>
          </a:prstGeom>
          <a:solidFill>
            <a:srgbClr val="EAF4F8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84632" y="3392424"/>
            <a:ext cx="1271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E7D9A"/>
                </a:solidFill>
              </a:rPr>
              <a:t>requests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E7D9A"/>
                </a:solidFill>
              </a:rPr>
              <a:t>pandas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38528" y="2441448"/>
            <a:ext cx="109728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2057400" y="777240"/>
            <a:ext cx="1600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38100" dist="12700" dir="2700000" algn="bl" rotWithShape="0">
              <a:srgbClr val="CBD5E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587752" y="886968"/>
            <a:ext cx="530352" cy="530352"/>
          </a:xfrm>
          <a:prstGeom prst="ellipse">
            <a:avLst/>
          </a:prstGeom>
          <a:solidFill>
            <a:srgbClr val="3A8A6E"/>
          </a:solidFill>
          <a:ln w="12700">
            <a:solidFill>
              <a:srgbClr val="3A8A6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587752" y="905256"/>
            <a:ext cx="5303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48840" y="152704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A4A"/>
                </a:solidFill>
              </a:rPr>
              <a:t>Pulizia &amp; Merge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148840" y="1984248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C8D"/>
                </a:solidFill>
              </a:rPr>
              <a:t>Unione dataset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C8D"/>
                </a:solidFill>
              </a:rPr>
              <a:t>per capita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21992" y="3355848"/>
            <a:ext cx="1271016" cy="594360"/>
          </a:xfrm>
          <a:prstGeom prst="rect">
            <a:avLst/>
          </a:prstGeom>
          <a:solidFill>
            <a:srgbClr val="EAF4F8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2221992" y="3392424"/>
            <a:ext cx="1271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A8A6E"/>
                </a:solidFill>
              </a:rPr>
              <a:t>pandas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A8A6E"/>
                </a:solidFill>
              </a:rPr>
              <a:t>merge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75888" y="2441448"/>
            <a:ext cx="109728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3794760" y="777240"/>
            <a:ext cx="1600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38100" dist="12700" dir="2700000" algn="bl" rotWithShape="0">
              <a:srgbClr val="CBD5E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325112" y="886968"/>
            <a:ext cx="530352" cy="530352"/>
          </a:xfrm>
          <a:prstGeom prst="ellipse">
            <a:avLst/>
          </a:prstGeom>
          <a:solidFill>
            <a:srgbClr val="7B68A0"/>
          </a:solidFill>
          <a:ln w="12700">
            <a:solidFill>
              <a:srgbClr val="7B68A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325112" y="905256"/>
            <a:ext cx="5303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86200" y="152704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A4A"/>
                </a:solidFill>
              </a:rPr>
              <a:t>EDA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886200" y="1984248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C8D"/>
                </a:solidFill>
              </a:rPr>
              <a:t>Trend, top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C8D"/>
                </a:solidFill>
              </a:rPr>
              <a:t>comuni, aree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959352" y="3355848"/>
            <a:ext cx="1271016" cy="594360"/>
          </a:xfrm>
          <a:prstGeom prst="rect">
            <a:avLst/>
          </a:prstGeom>
          <a:solidFill>
            <a:srgbClr val="EAF4F8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3959352" y="3392424"/>
            <a:ext cx="1271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7B68A0"/>
                </a:solidFill>
              </a:rPr>
              <a:t>matplotlib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13248" y="2441448"/>
            <a:ext cx="109728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5532120" y="777240"/>
            <a:ext cx="1600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38100" dist="12700" dir="2700000" algn="bl" rotWithShape="0">
              <a:srgbClr val="CBD5E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6062472" y="886968"/>
            <a:ext cx="530352" cy="530352"/>
          </a:xfrm>
          <a:prstGeom prst="ellipse">
            <a:avLst/>
          </a:prstGeom>
          <a:solidFill>
            <a:srgbClr val="C0724A"/>
          </a:solidFill>
          <a:ln w="12700">
            <a:solidFill>
              <a:srgbClr val="C072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062472" y="905256"/>
            <a:ext cx="5303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23560" y="152704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A4A"/>
                </a:solidFill>
              </a:rPr>
              <a:t>Test statistico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623560" y="1984248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C8D"/>
                </a:solidFill>
              </a:rPr>
              <a:t>Chi-square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C8D"/>
                </a:solidFill>
              </a:rPr>
              <a:t>Nord/Centro/Sud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96712" y="3355848"/>
            <a:ext cx="1271016" cy="594360"/>
          </a:xfrm>
          <a:prstGeom prst="rect">
            <a:avLst/>
          </a:prstGeom>
          <a:solidFill>
            <a:srgbClr val="EAF4F8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5696712" y="3392424"/>
            <a:ext cx="1271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C0724A"/>
                </a:solidFill>
              </a:rPr>
              <a:t>scipy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C0724A"/>
                </a:solidFill>
              </a:rPr>
              <a:t>stats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50608" y="2441448"/>
            <a:ext cx="109728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5"/>
          <p:cNvSpPr/>
          <p:nvPr/>
        </p:nvSpPr>
        <p:spPr>
          <a:xfrm>
            <a:off x="7269480" y="777240"/>
            <a:ext cx="1600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  <a:effectLst>
            <a:outerShdw blurRad="38100" dist="12700" dir="2700000" algn="bl" rotWithShape="0">
              <a:srgbClr val="CBD5E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7799832" y="886968"/>
            <a:ext cx="530352" cy="530352"/>
          </a:xfrm>
          <a:prstGeom prst="ellipse">
            <a:avLst/>
          </a:prstGeom>
          <a:solidFill>
            <a:srgbClr val="2E7D9A"/>
          </a:solidFill>
          <a:ln w="12700">
            <a:solidFill>
              <a:srgbClr val="2E7D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7799832" y="905256"/>
            <a:ext cx="5303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60920" y="152704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A4A"/>
                </a:solidFill>
              </a:rPr>
              <a:t>Forecast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7360920" y="1984248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C8D"/>
                </a:solidFill>
              </a:rPr>
              <a:t>Regressione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C8D"/>
                </a:solidFill>
              </a:rPr>
              <a:t>2025–2027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434072" y="3355848"/>
            <a:ext cx="1271016" cy="594360"/>
          </a:xfrm>
          <a:prstGeom prst="rect">
            <a:avLst/>
          </a:prstGeom>
          <a:solidFill>
            <a:srgbClr val="EAF4F8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7434072" y="3392424"/>
            <a:ext cx="12710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E7D9A"/>
                </a:solidFill>
              </a:rPr>
              <a:t>scikit-learn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ANALISI E RISULTATI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FA3B1"/>
                </a:solidFill>
              </a:rPr>
              <a:t>03 / 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794760" cy="1234440"/>
          </a:xfrm>
          <a:prstGeom prst="rect">
            <a:avLst/>
          </a:prstGeom>
          <a:solidFill>
            <a:srgbClr val="FFF0ED"/>
          </a:solidFill>
          <a:ln w="6350">
            <a:solidFill>
              <a:srgbClr val="CBD5E0"/>
            </a:solidFill>
            <a:prstDash val="solid"/>
          </a:ln>
          <a:effectLst>
            <a:outerShdw blurRad="38100" dist="12700" dir="2700000" algn="bl" rotWithShape="0">
              <a:srgbClr val="CBD5E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6400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66928" y="85953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</a:rPr>
              <a:t>-31%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14081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C8D"/>
                </a:solidFill>
              </a:rPr>
              <a:t>Calo incidenti 2020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C8D"/>
                </a:solidFill>
              </a:rPr>
              <a:t>(effetto lockdown COVID)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167128"/>
            <a:ext cx="3794760" cy="1234440"/>
          </a:xfrm>
          <a:prstGeom prst="rect">
            <a:avLst/>
          </a:prstGeom>
          <a:solidFill>
            <a:srgbClr val="EAF4F8"/>
          </a:solidFill>
          <a:ln w="6350">
            <a:solidFill>
              <a:srgbClr val="CBD5E0"/>
            </a:solidFill>
            <a:prstDash val="solid"/>
          </a:ln>
          <a:effectLst>
            <a:outerShdw blurRad="38100" dist="12700" dir="2700000" algn="bl" rotWithShape="0">
              <a:srgbClr val="CBD5E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64008" cy="1234440"/>
          </a:xfrm>
          <a:prstGeom prst="rect">
            <a:avLst/>
          </a:prstGeom>
          <a:solidFill>
            <a:srgbClr val="2E7D9A"/>
          </a:solidFill>
          <a:ln w="12700">
            <a:solidFill>
              <a:srgbClr val="2E7D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66928" y="227685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9A"/>
                </a:solidFill>
              </a:rPr>
              <a:t>Bergamo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282549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C8D"/>
                </a:solidFill>
              </a:rPr>
              <a:t>1ª città per incidenti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B7C8D"/>
                </a:solidFill>
              </a:rPr>
              <a:t>per 100.000 abitanti</a:t>
            </a:r>
            <a:endParaRPr lang="en-US" sz="1150" b="1" dirty="0"/>
          </a:p>
        </p:txBody>
      </p:sp>
      <p:sp>
        <p:nvSpPr>
          <p:cNvPr id="13" name="Shape 11"/>
          <p:cNvSpPr/>
          <p:nvPr/>
        </p:nvSpPr>
        <p:spPr>
          <a:xfrm>
            <a:off x="365760" y="3584448"/>
            <a:ext cx="3794760" cy="1234440"/>
          </a:xfrm>
          <a:prstGeom prst="rect">
            <a:avLst/>
          </a:prstGeom>
          <a:solidFill>
            <a:srgbClr val="EDF7F1"/>
          </a:solidFill>
          <a:ln w="6350">
            <a:solidFill>
              <a:srgbClr val="CBD5E0"/>
            </a:solidFill>
            <a:prstDash val="solid"/>
          </a:ln>
          <a:effectLst>
            <a:outerShdw blurRad="38100" dist="12700" dir="2700000" algn="bl" rotWithShape="0">
              <a:srgbClr val="CBD5E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365760" y="3584448"/>
            <a:ext cx="64008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66928" y="369417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AE60"/>
                </a:solidFill>
              </a:rPr>
              <a:t>p≈0.000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66928" y="424281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C8D"/>
                </a:solidFill>
              </a:rPr>
              <a:t>Chi-square Nord/Sud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C8D"/>
                </a:solidFill>
              </a:rPr>
              <a:t>differenza significativa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34840" y="749808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4A"/>
                </a:solidFill>
              </a:rPr>
              <a:t>Top città per incidenti assoluti (2015–2024)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34840" y="1197864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2E3B"/>
                </a:solidFill>
              </a:rPr>
              <a:t>Roma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1252728"/>
            <a:ext cx="2926080" cy="320040"/>
          </a:xfrm>
          <a:prstGeom prst="rect">
            <a:avLst/>
          </a:prstGeom>
          <a:solidFill>
            <a:srgbClr val="2E7D9A"/>
          </a:solidFill>
          <a:ln w="12700">
            <a:solidFill>
              <a:srgbClr val="2E7D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8549640" y="1252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9A"/>
                </a:solidFill>
              </a:rPr>
              <a:t>122.801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34840" y="1737360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2E3B"/>
                </a:solidFill>
              </a:rPr>
              <a:t>Milano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1792224"/>
            <a:ext cx="1872691" cy="320040"/>
          </a:xfrm>
          <a:prstGeom prst="rect">
            <a:avLst/>
          </a:prstGeom>
          <a:solidFill>
            <a:srgbClr val="2E7D9A">
              <a:alpha val="92000"/>
            </a:srgbClr>
          </a:solidFill>
          <a:ln w="12700">
            <a:solidFill>
              <a:srgbClr val="2E7D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496251" y="179222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9A"/>
                </a:solidFill>
              </a:rPr>
              <a:t>78.668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34840" y="2276856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2E3B"/>
                </a:solidFill>
              </a:rPr>
              <a:t>Genova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0" y="2331720"/>
            <a:ext cx="924641" cy="320040"/>
          </a:xfrm>
          <a:prstGeom prst="rect">
            <a:avLst/>
          </a:prstGeom>
          <a:solidFill>
            <a:srgbClr val="2E7D9A">
              <a:alpha val="84000"/>
            </a:srgbClr>
          </a:solidFill>
          <a:ln w="12700">
            <a:solidFill>
              <a:srgbClr val="2E7D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548201" y="2331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9A"/>
                </a:solidFill>
              </a:rPr>
              <a:t>38.779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34840" y="281635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2E3B"/>
                </a:solidFill>
              </a:rPr>
              <a:t>Torino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77840" y="2871216"/>
            <a:ext cx="687629" cy="320040"/>
          </a:xfrm>
          <a:prstGeom prst="rect">
            <a:avLst/>
          </a:prstGeom>
          <a:solidFill>
            <a:srgbClr val="2E7D9A">
              <a:alpha val="76000"/>
            </a:srgbClr>
          </a:solidFill>
          <a:ln w="12700">
            <a:solidFill>
              <a:srgbClr val="2E7D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6311189" y="28712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9A"/>
                </a:solidFill>
              </a:rPr>
              <a:t>28.929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34840" y="3355848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2E3B"/>
                </a:solidFill>
              </a:rPr>
              <a:t>Firenze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77840" y="3410712"/>
            <a:ext cx="564733" cy="320040"/>
          </a:xfrm>
          <a:prstGeom prst="rect">
            <a:avLst/>
          </a:prstGeom>
          <a:solidFill>
            <a:srgbClr val="2E7D9A">
              <a:alpha val="68000"/>
            </a:srgbClr>
          </a:solidFill>
          <a:ln w="12700">
            <a:solidFill>
              <a:srgbClr val="2E7D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6188293" y="34107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9A"/>
                </a:solidFill>
              </a:rPr>
              <a:t>23.708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34840" y="3895344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2E3B"/>
                </a:solidFill>
              </a:rPr>
              <a:t>Napoli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77840" y="3950208"/>
            <a:ext cx="544251" cy="320040"/>
          </a:xfrm>
          <a:prstGeom prst="rect">
            <a:avLst/>
          </a:prstGeom>
          <a:solidFill>
            <a:srgbClr val="2E7D9A">
              <a:alpha val="60000"/>
            </a:srgbClr>
          </a:solidFill>
          <a:ln w="12700">
            <a:solidFill>
              <a:srgbClr val="2E7D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6167811" y="39502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9A"/>
                </a:solidFill>
              </a:rPr>
              <a:t>22.886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34840" y="4434840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2E3B"/>
                </a:solidFill>
              </a:rPr>
              <a:t>Bologna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77840" y="4489704"/>
            <a:ext cx="456468" cy="320040"/>
          </a:xfrm>
          <a:prstGeom prst="rect">
            <a:avLst/>
          </a:prstGeom>
          <a:solidFill>
            <a:srgbClr val="2E7D9A">
              <a:alpha val="52000"/>
            </a:srgbClr>
          </a:solidFill>
          <a:ln w="12700">
            <a:solidFill>
              <a:srgbClr val="2E7D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6080028" y="448970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9A"/>
                </a:solidFill>
              </a:rPr>
              <a:t>19.163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40420" y="4842933"/>
            <a:ext cx="5002141" cy="289221"/>
          </a:xfrm>
          <a:prstGeom prst="rect">
            <a:avLst/>
          </a:prstGeom>
          <a:solidFill>
            <a:srgbClr val="FFF9E6"/>
          </a:solidFill>
          <a:ln w="63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2332656" y="4833789"/>
            <a:ext cx="517794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5C00"/>
                </a:solidFill>
              </a:rPr>
              <a:t>📈  Forecast 2025–2027 (regressione lineare): da ~163.000 a ~161.000 incidenti stimati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702A"/>
          </a:solidFill>
          <a:ln w="12700">
            <a:solidFill>
              <a:srgbClr val="D470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1828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FA3B1"/>
                </a:solidFill>
              </a:rPr>
              <a:t>04 / 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12070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E7D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566928" y="1115568"/>
            <a:ext cx="457200" cy="457200"/>
          </a:xfrm>
          <a:prstGeom prst="ellipse">
            <a:avLst/>
          </a:prstGeom>
          <a:solidFill>
            <a:srgbClr val="2E7D9A"/>
          </a:solidFill>
          <a:ln w="12700">
            <a:solidFill>
              <a:srgbClr val="2E7D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86868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Pipeline dati reale e completa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70432" y="1252728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CDD6"/>
                </a:solidFill>
              </a:rPr>
              <a:t>Download automatico via API ISTAT → merge con SITUAS → pulizia outlier → EDA → colonne derivate (incidenti per capita, area geografica) → analisi statistica → forecasting. Tutto documentato nel notebook Colab.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8229600" cy="12070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A8A6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457200" cy="457200"/>
          </a:xfrm>
          <a:prstGeom prst="ellipse">
            <a:avLst/>
          </a:prstGeom>
          <a:solidFill>
            <a:srgbClr val="3A8A6E"/>
          </a:solidFill>
          <a:ln w="12700">
            <a:solidFill>
              <a:srgbClr val="3A8A6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66928" y="252374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225856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Insight territoriali significativi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70432" y="2642616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CDD6"/>
                </a:solidFill>
              </a:rPr>
              <a:t>Roma e Milano dominano in valore assoluto, ma Bergamo guida per incidenti per 100k abitanti. Il test Chi-square (p≈0) conferma differenze statisticamente significative tra Nord, Centro e Sud.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57016"/>
            <a:ext cx="8229600" cy="12070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072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457200" cy="457200"/>
          </a:xfrm>
          <a:prstGeom prst="ellipse">
            <a:avLst/>
          </a:prstGeom>
          <a:solidFill>
            <a:srgbClr val="C0724A"/>
          </a:solidFill>
          <a:ln w="12700">
            <a:solidFill>
              <a:srgbClr val="C072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66928" y="391363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648456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COVID e trend futuro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70432" y="4032504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CDD6"/>
                </a:solidFill>
              </a:rPr>
              <a:t>Il crollo del 2020 (-31%) è chiaramente visibile nei dati. La ripresa post-pandemia è graduale. Il modello di regressione stima ~161.000 incidenti nel 2027 — leggera riduzione coerente con i progressi nella sicurezza stradale.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508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463</Words>
  <Application>Microsoft Macintosh PowerPoint</Application>
  <PresentationFormat>Presentazione su schermo (16:9)</PresentationFormat>
  <Paragraphs>106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Giulia Panza</cp:lastModifiedBy>
  <cp:revision>4</cp:revision>
  <dcterms:created xsi:type="dcterms:W3CDTF">2026-05-19T10:43:40Z</dcterms:created>
  <dcterms:modified xsi:type="dcterms:W3CDTF">2026-05-19T13:25:37Z</dcterms:modified>
</cp:coreProperties>
</file>